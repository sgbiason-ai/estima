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914400" y="-914400"/>
            <a:ext cx="3657600" cy="7315200"/>
          </a:xfrm>
          <a:prstGeom prst="rect">
            <a:avLst/>
          </a:prstGeom>
          <a:solidFill>
            <a:srgbClr val="283A73"/>
          </a:solidFill>
          <a:ln/>
        </p:spPr>
      </p:sp>
      <p:sp>
        <p:nvSpPr>
          <p:cNvPr id="3" name="Shape 1"/>
          <p:cNvSpPr/>
          <p:nvPr/>
        </p:nvSpPr>
        <p:spPr>
          <a:xfrm rot="-600000">
            <a:off x="6858000" y="2743200"/>
            <a:ext cx="3657600" cy="4572000"/>
          </a:xfrm>
          <a:prstGeom prst="rect">
            <a:avLst/>
          </a:prstGeom>
          <a:solidFill>
            <a:srgbClr val="283A7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ESTIMA VRD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digitale tout-en-un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Maîtrise d'Oeuvre VRD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l'estimation au suivi de chantier, un seul outil pour tout votre cycle projet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 aujourd'hui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défis quotidiens de la MOE VRD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des outils : Excel, Word, PDF manuels, emails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75688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75688"/>
            <a:ext cx="6400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756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temps considérable sur les tâches administratives répétitives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734056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34056"/>
            <a:ext cx="6400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340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traçabilité entre estimation, appel d'offres et chantier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92424"/>
            <a:ext cx="6400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3924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d'accès terrain : les équipes sur site n'ont pas les données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50792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50792"/>
            <a:ext cx="6400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0507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d'erreurs : ressaisies multiples, versions contradictoires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solution : ESTIMA VRD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unique pour tout votre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554480"/>
            <a:ext cx="274320" cy="27432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27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métier intégrés couvrant 100% du cycle VRD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75688"/>
            <a:ext cx="64008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212848"/>
            <a:ext cx="274320" cy="274320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854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075688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+ PWA mobile installable (zéro installation)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734056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34056"/>
            <a:ext cx="6400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2871216"/>
            <a:ext cx="274320" cy="27432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8437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734056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moderne Apple-style, intuitive et rapide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392424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92424"/>
            <a:ext cx="64008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529584"/>
            <a:ext cx="274320" cy="274320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5021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392424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professionnels PDF &amp; Excel brandés à votre image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050792"/>
            <a:ext cx="7863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050792"/>
            <a:ext cx="64008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" y="4187952"/>
            <a:ext cx="274320" cy="27432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160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050792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hors-ligne pour le terrain avec synchronisation automatique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Vue d'ensemble des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métier + 3 transversaux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" y="13258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325880"/>
            <a:ext cx="64008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VRD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66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complet, formules, options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3180" y="13258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3180" y="1325880"/>
            <a:ext cx="64008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76606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BPU Manager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6606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prix unitaires centralisée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0580" y="13258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0580" y="1325880"/>
            <a:ext cx="64008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82346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Financière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346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multi-entreprises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97980" y="13258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97980" y="1325880"/>
            <a:ext cx="64008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88086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086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multicritères structurée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0" y="2514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" y="2514600"/>
            <a:ext cx="64008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/ RC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documents marché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83180" y="2514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83180" y="2514600"/>
            <a:ext cx="64008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276606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MOE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660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d'honoraires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0580" y="2514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0580" y="251460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82346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Chantier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34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rendus terrain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97980" y="2514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97980" y="251460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880860" y="2651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Admin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808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EXE réglementaires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5780" y="3703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5780" y="3703320"/>
            <a:ext cx="64008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70866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de Site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86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géolocalisées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83180" y="3703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83180" y="3703320"/>
            <a:ext cx="64008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276606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7660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visuelle unifiée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40580" y="3703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40580" y="3703320"/>
            <a:ext cx="64008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482346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Projets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234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dossiers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97980" y="3703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697980" y="3703320"/>
            <a:ext cx="64008" cy="10515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1" name="Text 49"/>
          <p:cNvSpPr/>
          <p:nvPr/>
        </p:nvSpPr>
        <p:spPr>
          <a:xfrm>
            <a:off x="688086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80860" y="4206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dans la poche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Estimation VRD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métier — Chiffrage projet complet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3 niveaux : chapitres, sous-chapitres, lignes de chiffrage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récursives avec références croisées entre lignes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options (base + variantes) avec pourcentage client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automatique toutes les 3 secondes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avec page de garde HD + Export Excel avec formules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drag-drop intuitive, click-to-edit en ligne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BPU Manager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prix centralisée et traçable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de Prix Unitaires par projet avec édition directe en grille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doublons et prix aberrants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modifications (qui, quoi, quand)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couverture personnalisée avec logos et signatures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professionnel brandé à votre charte graphique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Financière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intelligent des offres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multi-entreprises (items × soumissionnaires)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 des offres (multi-onglets, multi-tranches)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Heatmap : visualisation colorée des écarts à la moyenne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OAB automatique (Offres Anormalement Basses)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Poussage des moyennes vers le BPU en un clic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PDF, Excel et JSON pour archivage et partage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Rapport d'Analyse des Offres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 — Notation multicritères structurée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onglets : Consultation, Administratif, Technique, Négociation, Récap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et sous-critères avec pondération hiérarchique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automatique multi-formules (F1 à F9)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groupements d'entreprises et membres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final transparent avec barres de scores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128016" cy="128016"/>
          </a:xfrm>
          <a:prstGeom prst="oval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formel pour les commissions d'appel d'offres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CCTP &amp; RC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de documents de marché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split-view : arborescence + preview + éditeur HTML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standards France pré-chargés (MASTER_CCTP / RC)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Mapping : détection auto des chapitres depuis le devis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dynamiques résolues automatiquement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clauses favorites avec drag-drop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complet avec branding personnalisé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Devis MOE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d'honoraires maîtrise d'oeuvre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méthodes : Loi MOP (phases détaillées) ou pourcentage forfaitaire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paramétrables : Études, AVP, APD, PRO, EXE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automatiques HT / TVA / TTC par phase et global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de devis existants pour réutilisation rapide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automatique dans le cloud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Compte Rendu de Chantier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— Suivi terrain complet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hiérarchique : Chantiers &gt; Réunions &gt; Observations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enrichi WYSIWYG avec photos géolocalisées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des observations entre catégories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participants réutilisable entre chantiers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automatique avec le projet Estima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formel avec logos et photos intégrées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Documents Administratifs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EXE réglementaires — Gestion des marchés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fiches marché : EXE 1, 4, 5, 6, 8, 9, 10, Réception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automatisés : dates révisées, cumuls, montants TTC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arrêts chantier et décalages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 par entreprise pour une lisibilité optimale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par fiche avec mise en page professionnelle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Visites de Site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terrain géolocalisée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terrain avec texte enrichi et photos GPS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: satellite, cadastre, OpenStreetMap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Traceur GPS continu en arrière-plan sur le terrain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mesure de distances directement sur carte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Marqueurs numérotés pour chaque observation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128016" cy="128016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avec photos et coordonnées intégrées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Branding — Votre identité partout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configuration, une cohérence totale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64008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&amp; Identité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56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raison sociale, tagline, coordonnées complètes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7863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13432"/>
            <a:ext cx="64008" cy="6858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86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60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personnalisée : primaire, secondaire, texte, accents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18104"/>
            <a:ext cx="7863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18104"/>
            <a:ext cx="64008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655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sur mesure pour titres et corps de texte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22776"/>
            <a:ext cx="7863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22776"/>
            <a:ext cx="64008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exports PDF/Excel brandés automatiquement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solidFill>
            <a:srgbClr val="8B5CF6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configuration → une image cohérente sur TOUS vos documents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 Mobile — Le bureau dans la poche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Travaillez partout, même sans connexion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36776"/>
            <a:ext cx="128016" cy="128016"/>
          </a:xfrm>
          <a:prstGeom prst="oval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sur iOS et Android — sans App Store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85416"/>
            <a:ext cx="128016" cy="128016"/>
          </a:xfrm>
          <a:prstGeom prst="oval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hors-ligne complet avec synchronisation automatique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128016" cy="128016"/>
          </a:xfrm>
          <a:prstGeom prst="oval">
            <a:avLst/>
          </a:prstGeom>
          <a:solidFill>
            <a:srgbClr val="F43F5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modules accessibles en version mobile optimisée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128016" cy="128016"/>
          </a:xfrm>
          <a:prstGeom prst="oval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renforcé pour usage extérieur (chantier, plein soleil)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31336"/>
            <a:ext cx="128016" cy="128016"/>
          </a:xfrm>
          <a:prstGeom prst="oval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intégrée pour photos géolocalisées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128016" cy="128016"/>
          </a:xfrm>
          <a:prstGeom prst="oval">
            <a:avLst/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natif (mail, OneDrive, iCloud) + Export PDF/Excel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 Multi-tenant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protégées, vos équipes isolées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6400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Firebase (email / mot de passe / OAuth)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30552"/>
            <a:ext cx="6400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30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totale des données entre clients : aucun croisement possible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52344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752344"/>
            <a:ext cx="6400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523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utilisateur : standard et administrateur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374136"/>
            <a:ext cx="6400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7413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 : historique de toutes les modifications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95928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95928"/>
            <a:ext cx="6400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995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 Google : haute disponibilité, conformité RGPD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bénéfices clés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vos équipes gagnent au quotidien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2377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temps gagné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l'administratif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377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08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ressaisie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partagées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2377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371600"/>
            <a:ext cx="237744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508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8932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brandés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2377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063240"/>
            <a:ext cx="23774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mobile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ou chantier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063240"/>
            <a:ext cx="2377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06324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réglementaire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3063240"/>
            <a:ext cx="2377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63240"/>
            <a:ext cx="23774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989320" y="3931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choisir ESTIMA VRD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avec la méthode traditionnelle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VRD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74904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traditionnelle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plateforme unifiée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657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920240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5+ outils différents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423160"/>
            <a:ext cx="3749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Auto-save en continu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2423160"/>
            <a:ext cx="3657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423160"/>
            <a:ext cx="3749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Sauvegardes manuelles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926080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Exports brandés automatiquement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2926080"/>
            <a:ext cx="3657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926080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Mise en page manuelle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3749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Accès mobile terrain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3429000"/>
            <a:ext cx="3657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Bureau uniquement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931920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Détection OAB automatique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89120" y="3931920"/>
            <a:ext cx="3657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3931920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Calculs manuels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4434840"/>
            <a:ext cx="3749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Traçabilité complète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89120" y="4434840"/>
            <a:ext cx="3657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4434840"/>
            <a:ext cx="3749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Versions perdues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914400" y="-914400"/>
            <a:ext cx="3657600" cy="7315200"/>
          </a:xfrm>
          <a:prstGeom prst="rect">
            <a:avLst/>
          </a:prstGeom>
          <a:solidFill>
            <a:srgbClr val="283A73"/>
          </a:solidFill>
          <a:ln/>
        </p:spPr>
      </p:sp>
      <p:sp>
        <p:nvSpPr>
          <p:cNvPr id="3" name="Shape 1"/>
          <p:cNvSpPr/>
          <p:nvPr/>
        </p:nvSpPr>
        <p:spPr>
          <a:xfrm rot="-600000">
            <a:off x="6858000" y="2743200"/>
            <a:ext cx="3657600" cy="4572000"/>
          </a:xfrm>
          <a:prstGeom prst="rect">
            <a:avLst/>
          </a:prstGeom>
          <a:solidFill>
            <a:srgbClr val="283A7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Demandez votre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démonstration personnalisée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46888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34640"/>
            <a:ext cx="2560320" cy="411480"/>
          </a:xfrm>
          <a:prstGeom prst="rect">
            <a:avLst/>
          </a:prstGeom>
          <a:solidFill>
            <a:srgbClr val="0EA5E9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progressive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834640"/>
            <a:ext cx="2560320" cy="411480"/>
          </a:xfrm>
          <a:prstGeom prst="rect">
            <a:avLst/>
          </a:prstGeom>
          <a:solidFill>
            <a:srgbClr val="0EA5E9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installation requise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834640"/>
            <a:ext cx="2560320" cy="411480"/>
          </a:xfrm>
          <a:prstGeom prst="rect">
            <a:avLst/>
          </a:prstGeom>
          <a:solidFill>
            <a:srgbClr val="0EA5E9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immédiatement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VRD — Votre partenaire digital VRD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 VRD — Présentation Commerciale</dc:title>
  <dc:subject>PptxGenJS Presentation</dc:subject>
  <dc:creator>ESTIMA VRD</dc:creator>
  <cp:lastModifiedBy>ESTIMA VRD</cp:lastModifiedBy>
  <cp:revision>1</cp:revision>
  <dcterms:created xsi:type="dcterms:W3CDTF">2026-04-11T10:59:43Z</dcterms:created>
  <dcterms:modified xsi:type="dcterms:W3CDTF">2026-04-11T10:59:43Z</dcterms:modified>
</cp:coreProperties>
</file>
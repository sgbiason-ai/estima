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76" r:id="rId27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-914400" y="-914400"/>
            <a:ext cx="3657600" cy="7315200"/>
          </a:xfrm>
          <a:prstGeom prst="rect">
            <a:avLst/>
          </a:prstGeom>
          <a:solidFill>
            <a:srgbClr val="283A7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rot="-600000">
            <a:off x="6858000" y="2743200"/>
            <a:ext cx="3657600" cy="4572000"/>
          </a:xfrm>
          <a:prstGeom prst="rect">
            <a:avLst/>
          </a:prstGeom>
          <a:solidFill>
            <a:srgbClr val="283A7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ESTIMA VRD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5486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71600" y="2560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digitale tout-en-un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Maîtrise d'Oeuvre VRD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l'estimation au suivi de chantier, un seul outil pour tout votre cycle projet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 problème aujourd'hui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défis quotidiens de la MOE VRD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417320"/>
            <a:ext cx="64008" cy="5486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1417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des outils : Excel, Word, PDF manuels, emails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075688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080" y="2075688"/>
            <a:ext cx="64008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0756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temps considérable sur les tâches administratives répétitives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34056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2734056"/>
            <a:ext cx="64008" cy="5486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5840" y="27340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entre estimation, appel d'offres et chantier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392424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" y="3392424"/>
            <a:ext cx="64008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05840" y="3392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d'accès terrain : les équipes sur site n'ont pas les données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50792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4050792"/>
            <a:ext cx="64008" cy="5486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5840" y="405079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: ressaisies multiples, versions contradictoires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solution : ESTIMA VRD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unique pour tout votre workflow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417320"/>
            <a:ext cx="64008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1554480"/>
            <a:ext cx="274320" cy="274320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527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1417320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modules métier intégrés couvrant 100% du cycle VRD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75688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075688"/>
            <a:ext cx="64008" cy="54864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212848"/>
            <a:ext cx="274320" cy="274320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18541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075688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+ PWA mobile installable (zéro installation)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734056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2734056"/>
            <a:ext cx="64008" cy="5486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2871216"/>
            <a:ext cx="274320" cy="274320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284378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2734056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moderne Apple-style, intuitive et rapide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3392424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40080" y="3392424"/>
            <a:ext cx="64008" cy="5486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68680" y="3529584"/>
            <a:ext cx="274320" cy="274320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68680" y="350215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3392424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professionnels PDF &amp; Excel brandés à votre image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50792"/>
            <a:ext cx="7863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080" y="4050792"/>
            <a:ext cx="64008" cy="5486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68680" y="4187952"/>
            <a:ext cx="274320" cy="274320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41605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25880" y="4050792"/>
            <a:ext cx="6995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hors-ligne pour le terrain avec synchronisation automatique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Vue d'ensemble des modules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modules métier + 3 transversaux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5780" y="132588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25780" y="1325880"/>
            <a:ext cx="64008" cy="10515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08660" y="14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VRD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8660" y="1828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complet, formules, options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83180" y="132588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583180" y="1325880"/>
            <a:ext cx="64008" cy="10515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66060" y="14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BPU Manager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66060" y="1828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prix unitaires centralisée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40580" y="132588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640580" y="1325880"/>
            <a:ext cx="64008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23460" y="14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Financière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3460" y="1828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multi-entreprises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97980" y="132588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97980" y="1325880"/>
            <a:ext cx="64008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80860" y="14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80860" y="1828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multicritères structurée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5780" y="2514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25780" y="2514600"/>
            <a:ext cx="64008" cy="10515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08660" y="26517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/ RC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8660" y="3017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Générateurs documents marché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83180" y="2514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583180" y="2514600"/>
            <a:ext cx="64008" cy="10515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766060" y="26517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MOE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66060" y="3017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Propositions d'honoraires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40580" y="2514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40580" y="2514600"/>
            <a:ext cx="64008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823460" y="26517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Chantier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23460" y="3017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rendus terrain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697980" y="2514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6697980" y="2514600"/>
            <a:ext cx="64008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80860" y="26517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Admin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80860" y="3017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EXE réglementaires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25780" y="3703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25780" y="3703320"/>
            <a:ext cx="64008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08660" y="3840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Visites de Site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08660" y="4206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géolocalisées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83180" y="3703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583180" y="3703320"/>
            <a:ext cx="64008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766060" y="3840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766060" y="4206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visuelle unifiée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640580" y="3703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640580" y="3703320"/>
            <a:ext cx="64008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23460" y="3840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Projets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823460" y="4206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&amp; dossiers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97980" y="3703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697980" y="3703320"/>
            <a:ext cx="64008" cy="105156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880860" y="3840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PWA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880860" y="4206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dans la poche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Module Estimation VRD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métier — Chiffrage projet complet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Arborescence 3 niveaux : chapitres, sous-chapitres, lignes de chiffrage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Formules récursives avec références croisées entre lignes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options (base + variantes) avec pourcentage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Auto-save automatique toutes les 3 secondes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avec page de garde HD + Export Excel avec formules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 drag-drop intuitive, click-to-edit en ligne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Module BPU Manager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prix centralisée et traçable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Bordereau de Prix Unitaires par projet avec édition directe en grille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 des doublons et prix aberrants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des modifications (qui, quoi, quand)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de couverture personnalisée avec logos et signatures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professionnel brandé à votre charte graphique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Analyse Financière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intelligent des offres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comparatif multi-entreprises (items × soumissionnaires)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Excel des offres (multi-onglets, multi-tranches)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Heatmap : visualisation colorée des écarts à la moyenne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OAB automatique (Offres Anormalement Basses)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Poussage des moyennes vers le BPU en un clic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PDF, Excel et JSON pour archivage et partage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Rapport d'Analyse des Offres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RAO — Notation multicritères structurée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onglets : Consultation, Administratif, Technique, Négociation, Récap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et sous-critères avec pondération hiérarchique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automatique multi-formules (F1 à F9)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groupements d'entreprises et membres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 final transparent avec barres de scores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formel pour les commissions d'appel d'offres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CCTP &amp; RC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Générateurs de documents de marché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split-view : arborescence + preview + éditeur HTML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standards France pré-chargés (MASTER_CCTP / RC)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Mapping : détection auto des chapitres depuis le devis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dynamiques résolues automatiquement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de clauses favorites avec drag-drop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complet avec branding personnalisé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Devis MOE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Propositions d'honoraires maîtrise d'oeuvre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méthodes : Loi MOP (phases détaillées) ou pourcentage forfaitaire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paramétrables : Études, AVP, APD, PRO, EXE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automatiques HT / TVA / TTC par phase et global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 de devis existants pour réutilisation rapide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automatique dans le cloud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Compte Rendu de Chantier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— Suivi terrain complet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hiérarchique : Chantiers &gt; Réunions &gt; Observations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 enrichi WYSIWYG avec photos géolocalisées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Drag-drop des observations entre catégories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de participants réutilisable entre chantiers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 automatique avec le projet Estima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formel avec logos et photos intégrées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Documents Administratifs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EXE réglementaires — Gestion des marchés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fiches marché : EXE 1, 4, 5, 6, 8, 9, 10, Réception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automatisés : dates révisées, cumuls, montants TTC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 des arrêts chantier et décalages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Couleurs par entreprise pour une lisibilité optimale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par fiche avec mise en page professionnelle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Visites de Site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terrain géolocalisée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terrain avec texte enrichi et photos GPS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interactive : satellite, cadastre, OpenStreetMap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Traceur GPS continu en arrière-plan sur le terrain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de mesure de distances directement sur carte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Marqueurs numérotés pour chaque observation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 avec photos et coordonnées intégrées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Branding — Votre identité partout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configuration, une cohérence totale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7863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0876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&amp; Identité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raison sociale, tagline, coordonnées complètes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13432"/>
            <a:ext cx="7863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313432"/>
            <a:ext cx="64008" cy="6858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Couleurs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609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personnalisée : primaire, secondaire, texte, accents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118104"/>
            <a:ext cx="7863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" y="3118104"/>
            <a:ext cx="64008" cy="685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4655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 sur mesure pour titres et corps de texte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22776"/>
            <a:ext cx="7863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0080" y="3922776"/>
            <a:ext cx="64008" cy="6858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3995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auto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exports PDF/Excel brandés automatiquement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71600" y="4572000"/>
            <a:ext cx="6400800" cy="411480"/>
          </a:xfrm>
          <a:prstGeom prst="rect">
            <a:avLst/>
          </a:prstGeom>
          <a:solidFill>
            <a:srgbClr val="8B5CF6">
              <a:alpha val="90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3716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configuration → une image cohérente sur TOUS vos documents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PWA Mobile — Le bureau dans la poche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Travaillez partout, même sans connexion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3677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5087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sur iOS et Android — sans App Store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hors-ligne complet avec synchronisation automatique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73405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modules accessibles en version mobile optimisée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renforcé pour usage extérieur (chantier, plein soleil)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83133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Caméra intégrée pour photos géolocalisées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79976"/>
            <a:ext cx="128016" cy="128016"/>
          </a:xfrm>
          <a:prstGeom prst="oval">
            <a:avLst/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natif (mail, OneDrive, iCloud) + Export PDF/Excel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Sécurité &amp; Multi-tenant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données protégées, vos équipes isolées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7863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08760"/>
            <a:ext cx="64008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sécurisée Firebase (email / mot de passe / OAuth)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130552"/>
            <a:ext cx="7863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2130552"/>
            <a:ext cx="64008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213055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totale des données entre clients : aucun croisement possible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52344"/>
            <a:ext cx="7863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2752344"/>
            <a:ext cx="64008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275234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utilisateur : standard et administrateur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374136"/>
            <a:ext cx="7863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374136"/>
            <a:ext cx="64008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337413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complet : historique de toutes les modifications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95928"/>
            <a:ext cx="7863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0080" y="3995928"/>
            <a:ext cx="64008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" y="39959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cloud Google : haute disponibilité, conformité RGPD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Les bénéfices clés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vos équipes gagnent au quotidien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37160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371600"/>
            <a:ext cx="23774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087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temps gagné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l'administratif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37160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3774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83280" y="15087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ressaisie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partagées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89320" y="137160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989320" y="1371600"/>
            <a:ext cx="2377440" cy="54864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89320" y="15087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598932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brandés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06324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77240" y="3063240"/>
            <a:ext cx="237744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24/7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mobile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ou chantier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306324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383280" y="3063240"/>
            <a:ext cx="23774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832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338328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réglementaire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89320" y="3063240"/>
            <a:ext cx="23774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89320" y="3063240"/>
            <a:ext cx="237744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8932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∞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598932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Pourquoi choisir ESTIMA VRD 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avec la méthode traditionnelle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3749040" cy="4572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371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 VRD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1371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749040" cy="4572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54880" y="1371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traditionnelle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plateforme unifiée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1920240"/>
            <a:ext cx="3657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192024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920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5+ outils différents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42316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2423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Auto-save en continu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89120" y="2423160"/>
            <a:ext cx="365760" cy="4572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54880" y="242316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92040" y="2423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Sauvegardes manuelles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292608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Exports brandés automatiquement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2926080"/>
            <a:ext cx="3657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54880" y="292608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920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Mise en page manuelle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342900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Accès mobile terrain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89120" y="3429000"/>
            <a:ext cx="365760" cy="4572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54880" y="342900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9204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Bureau uniquement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93192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72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Détection OAB automatique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389120" y="3931920"/>
            <a:ext cx="3657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754880" y="3931920"/>
            <a:ext cx="3749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8920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Calculs manuels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443484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77240" y="4434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Traçabilité complète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389120" y="4434840"/>
            <a:ext cx="365760" cy="4572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754880" y="4434840"/>
            <a:ext cx="37490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892040" y="4434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Versions perdues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-914400" y="-914400"/>
            <a:ext cx="3657600" cy="7315200"/>
          </a:xfrm>
          <a:prstGeom prst="rect">
            <a:avLst/>
          </a:prstGeom>
          <a:solidFill>
            <a:srgbClr val="283A7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rot="-600000">
            <a:off x="6858000" y="2743200"/>
            <a:ext cx="3657600" cy="4572000"/>
          </a:xfrm>
          <a:prstGeom prst="rect">
            <a:avLst/>
          </a:prstGeom>
          <a:solidFill>
            <a:srgbClr val="283A7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Demandez votre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démonstration personnalisée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2468880"/>
            <a:ext cx="2743200" cy="5486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34640"/>
            <a:ext cx="2560320" cy="411480"/>
          </a:xfrm>
          <a:prstGeom prst="rect">
            <a:avLst/>
          </a:prstGeom>
          <a:solidFill>
            <a:srgbClr val="0EA5E9">
              <a:alpha val="30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2834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progressive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2834640"/>
            <a:ext cx="2560320" cy="411480"/>
          </a:xfrm>
          <a:prstGeom prst="rect">
            <a:avLst/>
          </a:prstGeom>
          <a:solidFill>
            <a:srgbClr val="0EA5E9">
              <a:alpha val="30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91840" y="2834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installation requise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2834640"/>
            <a:ext cx="2560320" cy="411480"/>
          </a:xfrm>
          <a:prstGeom prst="rect">
            <a:avLst/>
          </a:prstGeom>
          <a:solidFill>
            <a:srgbClr val="0EA5E9">
              <a:alpha val="30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35040" y="2834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immédiatement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 VRD — Votre partenaire digital VRD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rial Black"/>
              </a:rPr>
              <a:t>Le paysage concurrentiel VRD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96112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Aucun produit existant ne couvre le cycle complet de la MOE VRD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82296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Tableur généraliste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Excel  ·  Word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EF4444"/>
                </a:solidFill>
                <a:latin typeface="Calibri"/>
              </a:rPr>
              <a:t>✗ Fragmenté, ressaisies, zéro traçabilité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8980" y="1481328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68980" y="1481328"/>
            <a:ext cx="82296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0148" y="1609344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Logiciels de devis / métré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Attic+  ·  Quick Devis  ·  Multidevis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EF4444"/>
                </a:solidFill>
                <a:latin typeface="Calibri"/>
              </a:rPr>
              <a:t>✗ Chiffrage entreprise : ni analyse d'offres, ni suivi chantier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481328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481328"/>
            <a:ext cx="82296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609344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Suite Maîtrise d'Œuvre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DeviSOC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EF4444"/>
                </a:solidFill>
                <a:latin typeface="Calibri"/>
              </a:rPr>
              <a:t>✗ Desktop, tous corps d'état (non VRD), pas de mobile terrain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07792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82296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35808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ERP Travaux Publics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Onaya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EF4444"/>
                </a:solidFill>
                <a:latin typeface="Calibri"/>
              </a:rPr>
              <a:t>✗ Orienté entreprise TP (sous-détails), lourd, desktop, pas MOE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8980" y="2907792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8980" y="2907792"/>
            <a:ext cx="82296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0148" y="3035808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Apps de chantier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Finalcad  ·  Alobees  ·  Kroqi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EF4444"/>
                </a:solidFill>
                <a:latin typeface="Calibri"/>
              </a:rPr>
              <a:t>✗ Suivi terrain uniquement : aucune estimation ni analyse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907792"/>
            <a:ext cx="26060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2907792"/>
            <a:ext cx="82296" cy="129844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3035808"/>
            <a:ext cx="229514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Conception VRD (DAO)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Mensura  ·  Covadis  ·  AutoPISTE</a:t>
            </a:r>
          </a:p>
          <a:p>
            <a:pPr algn="l">
              <a:spcAft>
                <a:spcPts val="300"/>
              </a:spcAft>
            </a:pPr>
            <a:r>
              <a:rPr sz="850" b="0">
                <a:solidFill>
                  <a:srgbClr val="64748B"/>
                </a:solidFill>
                <a:latin typeface="Calibri"/>
              </a:rPr>
              <a:t>~ Complémentaire : conçoivent, ne chiffrent/gèrent pas le marché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70832"/>
            <a:ext cx="8229600" cy="475488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70832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ESTIMA VRD réunit seul : spécialisation VRD  +  cycle MOE complet  +  terrain mobile  —  en SaaS, sans installation.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Arial Black"/>
              </a:rPr>
              <a:t>Comparatif fonctionnel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96112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ESTIMA VRD face aux 5 familles de produits du marché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8229600" cy="30632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952500"/>
                <a:gridCol w="952500"/>
                <a:gridCol w="952500"/>
                <a:gridCol w="952500"/>
                <a:gridCol w="952500"/>
                <a:gridCol w="95250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Capacité clé</a:t>
                      </a:r>
                    </a:p>
                  </a:txBody>
                  <a:tcPr anchor="ctr" marL="54864" marR="36576" marT="0" marB="0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ESTIMA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VRD</a:t>
                      </a:r>
                    </a:p>
                  </a:txBody>
                  <a:tcPr anchor="ctr" marL="54864" marR="36576" marT="0" marB="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Suite MOE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(DeviSOC)</a:t>
                      </a:r>
                    </a:p>
                  </a:txBody>
                  <a:tcPr anchor="ctr" marL="54864" marR="36576" marT="0" marB="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ERP TP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(Onaya)</a:t>
                      </a:r>
                    </a:p>
                  </a:txBody>
                  <a:tcPr anchor="ctr" marL="54864" marR="36576" marT="0" marB="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Devis/métré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(Attic+…)</a:t>
                      </a:r>
                    </a:p>
                  </a:txBody>
                  <a:tcPr anchor="ctr" marL="54864" marR="36576" marT="0" marB="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App chantier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(Finalcad…)</a:t>
                      </a:r>
                    </a:p>
                  </a:txBody>
                  <a:tcPr anchor="ctr" marL="54864" marR="36576" marT="0" marB="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Tableur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(Excel)</a:t>
                      </a:r>
                    </a:p>
                  </a:txBody>
                  <a:tcPr anchor="ctr" marL="54864" marR="36576" marT="0" marB="0">
                    <a:solidFill>
                      <a:srgbClr val="F1F5F9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Spécialisation VRD + biblio prix locales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Analyse des offres + détection OAB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RAO notation multicritère (F1–F9)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Générateurs CCTP / RC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Devis MOE (loi MOP / honoraires)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Suivi chantier géolocalisé (CRC, visites)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Docs admin EXE réglementaires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Mobile PWA + hors-ligne terrain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SaaS web, zéro installation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761"/>
                          </a:solidFill>
                          <a:latin typeface="Calibri"/>
                        </a:rPr>
                        <a:t>Plateforme unifiée (tout le cycle MOE)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0B981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4864" marR="36576" marT="0" marB="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59E0B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94A3B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4864" marR="36576" marT="0" marB="0">
                    <a:solidFill>
                      <a:srgbClr val="FBFC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Calibri"/>
              </a:rPr>
              <a:t>✓ </a:t>
            </a:r>
            <a:r>
              <a:rPr sz="900" b="0">
                <a:solidFill>
                  <a:srgbClr val="64748B"/>
                </a:solidFill>
                <a:latin typeface="Calibri"/>
              </a:rPr>
              <a:t>Couvert natif    </a:t>
            </a:r>
            <a:r>
              <a:rPr sz="1100" b="1">
                <a:solidFill>
                  <a:srgbClr val="F59E0B"/>
                </a:solidFill>
                <a:latin typeface="Calibri"/>
              </a:rPr>
              <a:t>~ </a:t>
            </a:r>
            <a:r>
              <a:rPr sz="900" b="0">
                <a:solidFill>
                  <a:srgbClr val="64748B"/>
                </a:solidFill>
                <a:latin typeface="Calibri"/>
              </a:rPr>
              <a:t>Partiel / module payant    </a:t>
            </a:r>
            <a:r>
              <a:rPr sz="1100" b="1">
                <a:solidFill>
                  <a:srgbClr val="94A3B8"/>
                </a:solidFill>
                <a:latin typeface="Calibri"/>
              </a:rPr>
              <a:t>✗ </a:t>
            </a:r>
            <a:r>
              <a:rPr sz="900" b="0">
                <a:solidFill>
                  <a:srgbClr val="64748B"/>
                </a:solidFill>
                <a:latin typeface="Calibri"/>
              </a:rPr>
              <a:t>Absent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ESTIMA VRD — Présentation Commerciale</dc:title>
  <dc:subject>PptxGenJS Presentation</dc:subject>
  <dc:creator>ESTIMA VRD</dc:creator>
  <cp:lastModifiedBy>ESTIMA VRD</cp:lastModifiedBy>
  <cp:revision>1</cp:revision>
  <dcterms:created xsi:type="dcterms:W3CDTF">2026-04-11T10:59:43Z</dcterms:created>
  <dcterms:modified xsi:type="dcterms:W3CDTF">2026-04-11T10:59:43Z</dcterms:modified>
</cp:coreProperties>
</file>